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E03EC-900D-0F21-B9C1-15D09CF3D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2FE6A-F7AB-5953-5A46-14169D393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051B4-3CF5-97D1-D213-24D17DC47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96D96-EBAF-AE90-CC47-F6C9D443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FEDB-29BD-0C42-8F34-15AA9A63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7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7B87-5700-06D5-8D08-FCA37E68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33664-ADC7-4EEB-2A57-B4545D3C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FB507-147C-F5B7-DF2C-CC2F775F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CAD3-5DEB-4FE4-4D22-AA518B3D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AB1A1-2ED4-D484-5F61-8BD58562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4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E6A3-9EFA-D6D8-41EA-22BFFF257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FB8CA-85FC-5EC8-61C7-D44A4DC50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98479-7022-5DE9-D90D-9EA6087F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1F97-2062-AB63-8F57-544AEDB8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882A1-FA9E-95DA-7C7D-CDBBBA69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78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2987-3F53-0E8E-3C3D-E65C3620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114A6-C716-A462-DFF2-BC1D77900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D4488-544F-AC74-0535-DFBA9EDDB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75F26-118D-1547-386D-598EC79B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044EF-7584-6480-3E4B-B9F0FE43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F787C-D4E1-1845-CBBB-C6CDFE68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0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86BB-A1EF-A2A9-55CD-5A741391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12698-C663-53F3-7982-F6B878B90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DD494-BD95-52E5-72A4-A5D625A72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2B3E9-3262-296D-5F24-F398DCCFD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AE58C-E946-86C9-C3B4-DF6E908FE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9B9E8-BBA7-FDA2-CC9F-0DF52C20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17D076-0D42-CA5E-F3F0-C501DF4B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F8A395-5633-6EBA-8594-EE07A116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9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4909-18B6-0C60-3CA0-03F83BCC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5818E-9A1B-23E8-3C2B-8483ED16A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AC08A-05D4-2471-7268-C4714409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E73E5-C006-F571-A380-8D4F96E4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4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A1315-AFCB-DB64-F287-8C863A5F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C7D9F-D166-A10F-01AE-C1AFF642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D338B-1D89-E4E3-6988-521BFB03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4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5BB0-608F-5CAB-5985-374257F6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54981-37CD-02A9-4B86-5B04291D2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CEC8E-E679-98BA-F393-6CEAC611B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D56F4-A5A1-272C-52BC-CFE323B1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BC837-0F1E-E4B2-E41E-025491F1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13A65-251A-FB69-BB4A-FD7502DD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2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B501-DE83-79C0-1956-424D6BB6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E72A0B-40DE-26F1-05EC-199B6312E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14BF4-3698-142E-C103-037E54736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E5B40-8562-6DFF-2BFA-8E5F5D99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EC8EE-6AE3-B304-2993-69B29770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AAC8C-90FD-A216-AB94-14C6C6C7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7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B232-795D-E97F-C677-4C59FF29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F9B8E-5AEE-9255-4DD8-7570D4E34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58C69-3CF8-0703-96E1-FBFB0FDB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86521-013B-BB6B-4C09-2EDFC8EFE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42E5B-A718-D00A-35E4-3856D80F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6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6CD28-FF1C-DE7F-1EFC-B8821C63F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F7C77-7EC3-52EC-E19B-A9D8E5008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D2317-AF96-8474-B5E4-3D24C86E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1C375-88DD-42E7-3370-98E34787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06C33-B759-33B9-2EC9-51AA3BAD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9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89BF9-B684-115E-B98F-E30087942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A680C-AC1A-4381-796D-20CADC5A3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B72EB-A828-45D6-DB1D-251733D8C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DD75A-2E2C-4D9F-8AAB-B253716829E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30593-0DB3-409D-EA5E-61FEF635E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9243-6071-D869-0641-48D64759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E1DA3-E477-466A-9B1B-BA32F01A7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8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BDC368-AC59-ED5D-C04D-0CF6FC9C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6" y="457200"/>
            <a:ext cx="10874477" cy="29843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de-DE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classifier, validated with 5-fold cross-validation for reliability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2F3794-7CC3-8309-A060-8C0494C60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058" y="1119428"/>
            <a:ext cx="4286865" cy="4546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9F061D-AA28-1FE1-5BD9-8A315E0CE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1446" y="1119428"/>
            <a:ext cx="6263148" cy="184008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342900" indent="-342900">
              <a:buAutoNum type="arabicPeriod"/>
            </a:pPr>
            <a:r>
              <a:rPr lang="en-US" dirty="0"/>
              <a:t>Recall (bookers correctly identified): </a:t>
            </a:r>
            <a:r>
              <a:rPr lang="en-US" b="1" dirty="0"/>
              <a:t>~79%</a:t>
            </a:r>
          </a:p>
          <a:p>
            <a:pPr marL="342900" indent="-342900">
              <a:buAutoNum type="arabicPeriod"/>
            </a:pPr>
            <a:r>
              <a:rPr lang="en-US" dirty="0"/>
              <a:t>Precision: ~29%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dirty="0"/>
              <a:t>Consistent performance across all 5 validation folds (low variance)</a:t>
            </a:r>
          </a:p>
          <a:p>
            <a:r>
              <a:rPr lang="en-US" i="1" dirty="0">
                <a:solidFill>
                  <a:srgbClr val="C00000"/>
                </a:solidFill>
              </a:rPr>
              <a:t>Note: accuracy alone will not work here - only </a:t>
            </a:r>
            <a:r>
              <a:rPr lang="en-US" b="1" i="1" dirty="0">
                <a:solidFill>
                  <a:srgbClr val="C00000"/>
                </a:solidFill>
              </a:rPr>
              <a:t>15%</a:t>
            </a:r>
            <a:r>
              <a:rPr lang="en-US" i="1" dirty="0">
                <a:solidFill>
                  <a:srgbClr val="C00000"/>
                </a:solidFill>
              </a:rPr>
              <a:t> of customers complete bookings, so we optimized to catch as many likely bookers as possible.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6514AAC-75C3-E71D-AE1B-94B88B0DD1D1}"/>
              </a:ext>
            </a:extLst>
          </p:cNvPr>
          <p:cNvSpPr txBox="1">
            <a:spLocks/>
          </p:cNvSpPr>
          <p:nvPr/>
        </p:nvSpPr>
        <p:spPr>
          <a:xfrm>
            <a:off x="501446" y="3067665"/>
            <a:ext cx="6263148" cy="24482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de-DE" i="1" dirty="0">
                <a:solidFill>
                  <a:schemeClr val="tx1"/>
                </a:solidFill>
              </a:rPr>
              <a:t>Booking completion is driven by historical route and origin conversion rates. </a:t>
            </a:r>
          </a:p>
          <a:p>
            <a:pPr marL="285750" indent="-285750">
              <a:buFontTx/>
              <a:buChar char="-"/>
            </a:pPr>
            <a:r>
              <a:rPr lang="de-DE" i="1" dirty="0">
                <a:solidFill>
                  <a:schemeClr val="tx1"/>
                </a:solidFill>
              </a:rPr>
              <a:t>Trip characteristics has comparatively minor influence. On my openion, market/route-level targeting may be more effective than behaivior based  targeting alone. </a:t>
            </a:r>
          </a:p>
          <a:p>
            <a:pPr marL="285750" indent="-285750">
              <a:buFontTx/>
              <a:buChar char="-"/>
            </a:pPr>
            <a:r>
              <a:rPr lang="de-DE" i="1" dirty="0">
                <a:solidFill>
                  <a:schemeClr val="tx1"/>
                </a:solidFill>
              </a:rPr>
              <a:t>Notably, using only the route origin and origin conversion rate  features alon achievies nearly identical  performance to the full model, without any data or information leakage between training and testing dataset.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A177894-90F2-6994-3983-414CFABEAB7F}"/>
              </a:ext>
            </a:extLst>
          </p:cNvPr>
          <p:cNvSpPr txBox="1">
            <a:spLocks/>
          </p:cNvSpPr>
          <p:nvPr/>
        </p:nvSpPr>
        <p:spPr>
          <a:xfrm>
            <a:off x="501446" y="5879691"/>
            <a:ext cx="10874477" cy="7570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Recommendation: </a:t>
            </a:r>
            <a:r>
              <a:rPr lang="de-DE" b="1" dirty="0"/>
              <a:t>	Prioritize marketing spend toward customers from historically high converting booking origins and routes. While further data about customer background could add more value and imrpove the model peformance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917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Model: Random Forest classifier, validated with 5-fold cross-validation for reliability.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Monotosh Chandan</dc:creator>
  <cp:lastModifiedBy>Monotosh Chandan</cp:lastModifiedBy>
  <cp:revision>1</cp:revision>
  <dcterms:created xsi:type="dcterms:W3CDTF">2026-09-01T12:51:01Z</dcterms:created>
  <dcterms:modified xsi:type="dcterms:W3CDTF">2026-09-01T13:19:08Z</dcterms:modified>
</cp:coreProperties>
</file>